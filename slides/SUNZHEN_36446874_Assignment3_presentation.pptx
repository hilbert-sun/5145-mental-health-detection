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中文演讲提示：开场先说明这不是一个“自动诊断抑郁症”的系统，而是一个可解释、由人复核的早期风险分诊工作流。强调 PPT 控制在 8 页，符合 4 分钟和最多 10 页的课程要求。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中文演讲提示：这一页先讲为什么问题重要。抑郁障碍有公共健康意义；Reddit 这类社区会出现早期求助信号。但我们要马上划清边界：社交媒体文本不是临床记录，所以系统只能做分诊和优先级排序。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中文演讲提示：这一页重点回应评分标准中的 novelty。不要说“我只是训练了一个分类器”，而要说：项目把可解释模型放在一个有人类复核、可治理的分诊流程中，并且用 ADHD 作为更难的对照组。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中文演讲提示：这里把 PDF 的数据描述和 Rmd 的清洗代码结合起来讲。核心数字是 34,282 条清洗后帖子，其中 ADHD 对照 20,398，抑郁相关 13,884。强调数据是 subreddit 标签，不是临床诊断标签。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中文演讲提示：这一页讲方法，不要讲太细。说明用 DTM/TF-IDF 把文本变成结构化特征，再比较 Logistic Regression 和 Naive Bayes。关键点是先 train-test split 再固定词表，降低数据泄漏风险。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中文演讲提示：这一页讲结果。Logistic Regression 的准确率是 0.9024，AUC 是 0.9577，优于 Naive Bayes 的 AUC 0.8248。强调选择 Logistic Regression 不是因为它最复杂，而是因为它兼顾表现和可解释性。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演讲提示：这一页把“可解释性”和“错误成本”联系起来。系数可以帮助复核人员理解模型为什么这么判断，但不能当作心理学结论。错误数量说明必须有人类复核，尤其是假阴性可能漏掉需要关注的帖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中文演讲提示：结尾把价值主张收成一句话：这个项目验证了用可解释文本模型做早期风险分诊的可行性，但真正可部署的重点是治理、透明和人工复核，而不是自动诊断。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0E2F4B"/>
          </a:solidFill>
          <a:ln w="12700">
            <a:solidFill>
              <a:srgbClr val="0E2F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-411480"/>
            <a:ext cx="2926080" cy="2926080"/>
          </a:xfrm>
          <a:prstGeom prst="arc">
            <a:avLst/>
          </a:prstGeom>
          <a:solidFill>
            <a:srgbClr val="2A9D8F">
              <a:alpha val="90000"/>
            </a:srgbClr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4297680"/>
            <a:ext cx="2194560" cy="2194560"/>
          </a:xfrm>
          <a:prstGeom prst="arc">
            <a:avLst/>
          </a:prstGeom>
          <a:solidFill>
            <a:srgbClr val="E9C46A">
              <a:alpha val="75000"/>
            </a:srgbClr>
          </a:solidFill>
          <a:ln w="12700">
            <a:solidFill>
              <a:srgbClr val="E9C46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02920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DDEEF0"/>
          </a:solidFill>
          <a:ln w="12700">
            <a:solidFill>
              <a:srgbClr val="DD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566928"/>
            <a:ext cx="22768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4-minute presentation | max 10 slides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8869680" cy="1508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Detecting Depression Risk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Social Media Text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713232" y="31546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interpretable machine learning triage workflow for Reddit mental health posts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3886200"/>
            <a:ext cx="63093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087368"/>
            <a:ext cx="58704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claim: prioritise posts for trained human review - not automatic clinical diagnosis.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13232" y="583387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 ZHEN | 36446874 | FIT5145 Assignment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problem matters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can surface distress signals, but the use case must stay cautious.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FIT5145 Assignment 3 | Source: report PDF + analysis.Rmd + specification/rubric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384280" y="642823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389888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27048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5.7%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199339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adults affected by depression globally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322576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cited in report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3154680" y="1389888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27048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34,282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199339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Reddit posts in the R demo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2322576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cleaning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669280" y="1389888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527048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classes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806440" y="199339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depression-related vs ADHD comparison posts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06440" y="2322576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realistic than neutral text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640080" y="3127248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DEE8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27248"/>
            <a:ext cx="73152" cy="2148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2735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3657600"/>
            <a:ext cx="3108960" cy="1463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mental health communities contain long-form posts about symptoms, medication, stigma, relationships and daily functioning. These posts may reveal early support needs.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389120" y="3127248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DEE8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3127248"/>
            <a:ext cx="73152" cy="2148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32735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90288" y="3657600"/>
            <a:ext cx="3108960" cy="1463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text is noisy and sensitive. Subreddit labels are not clinical diagnoses, and misclassification can create harm or extra workload.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138160" y="1389888"/>
            <a:ext cx="3246120" cy="3886200"/>
          </a:xfrm>
          <a:prstGeom prst="roundRect">
            <a:avLst>
              <a:gd name="adj" fmla="val 2254"/>
            </a:avLst>
          </a:prstGeom>
          <a:solidFill>
            <a:srgbClr val="EAF1F8"/>
          </a:solidFill>
          <a:ln w="12700">
            <a:solidFill>
              <a:srgbClr val="C5D5EA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389888"/>
            <a:ext cx="73152" cy="388620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9328" y="153619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framing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39328" y="1920240"/>
            <a:ext cx="2880360" cy="3200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narrows the goal to post-level triage: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score public posts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influential terms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route high-risk or uncertain cases to trained reviewers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identity inference and automatic diagnosis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172200"/>
            <a:ext cx="10607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evidence: Introduction and Abstract identify depression as a public health challenge and define the system as decision support, not diagnosis.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 and project positioning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novelty is in the workflow and governance, not just another classifier.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FIT5145 Assignment 3 | Source: report PDF + analysis.Rmd + specification/rubric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384280" y="642823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7DEE8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73152" cy="43434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472184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limitations in existing approaches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1856232"/>
            <a:ext cx="4892040" cy="3657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performance-first classifiers can be hard to trust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platform or self-disclosure labels are often treated too much like clinical labels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false negatives and false positives have different costs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many studies stop at model metrics without an operational review workflow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7DEE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325880"/>
            <a:ext cx="73152" cy="4343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472184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project’s contribution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4808" y="1856232"/>
            <a:ext cx="4892040" cy="3657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ADHD posts as a more challenging comparison group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Logistic Regression as the main interpretable baseline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coefficient-level explanations for human reviewers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threshold-aware evaluation using Accuracy, Precision, Recall, F1 and AUC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privacy-safe reporting and human oversight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48656" y="2926080"/>
            <a:ext cx="658368" cy="658368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3154680"/>
            <a:ext cx="5852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715000" y="3246120"/>
            <a:ext cx="484632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02920" y="6172200"/>
            <a:ext cx="10607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Rubric alignment: clear problem, significance, business value, novelty and flow.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 and preprocessing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analysis.Rmd turns raw Reddit CSV files into a reproducible text-classification dataset.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FIT5145 Assignment 3 | Source: report PDF + analysis.Rmd + specification/rubric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384280" y="642823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3886200" cy="45262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7DEE8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34440"/>
            <a:ext cx="73152" cy="452628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80744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code to 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1764792"/>
            <a:ext cx="3520440" cy="3840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files: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depression.csv from r/depression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adhd.csv from r/ADHD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logic: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title + body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 [removed] and [deleted]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 empty or missing text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binary label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save privacy-safer metadata version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23444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Cleaned class distribution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4937760"/>
            <a:ext cx="5852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1920240"/>
            <a:ext cx="0" cy="30175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2139970"/>
            <a:ext cx="1280160" cy="279779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664482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20,398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(59.5%)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506577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ADHD comparison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8458200" y="3033431"/>
            <a:ext cx="1280160" cy="1904329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557943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13,884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(40.5%)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92440" y="506577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Depression-related</a:t>
            </a:r>
            <a:endParaRPr lang="en-US" sz="840" dirty="0"/>
          </a:p>
          <a:p>
            <a:pPr marL="0" indent="0" algn="ctr">
              <a:buNone/>
            </a:pPr>
            <a:r>
              <a:rPr lang="en-US" sz="84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9738360" y="109728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1234440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34,282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875520" y="1700784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 after cleaning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5413248"/>
            <a:ext cx="61722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Moderately imbalanced, but usable for supervised learning when precision, recall and F1 are also reported.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172200"/>
            <a:ext cx="10607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page 4-5 and analysis.Rmd preprocessing/class-distribution chunks.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and analysis pipeline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 demonstration keeps the pipeline simple, explainable and auditable.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FIT5145 Assignment 3 | Source: report PDF + analysis.Rmd + specification/rubric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384280" y="642823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1353312" cy="713232"/>
          </a:xfrm>
          <a:prstGeom prst="roundRect">
            <a:avLst>
              <a:gd name="adj" fmla="val 7692"/>
            </a:avLst>
          </a:prstGeom>
          <a:solidFill>
            <a:srgbClr val="EAF1F8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499616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Reddit CSV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47672" y="1773936"/>
            <a:ext cx="338328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31720" y="1417320"/>
            <a:ext cx="13533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499616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text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labels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85032" y="1773936"/>
            <a:ext cx="338328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69080" y="1417320"/>
            <a:ext cx="13533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1499616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EDA: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 + terms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22392" y="1773936"/>
            <a:ext cx="338328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06440" y="1417320"/>
            <a:ext cx="13533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1499616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DTM / TF-IDF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59752" y="1773936"/>
            <a:ext cx="338328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43800" y="1417320"/>
            <a:ext cx="13533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16952" y="1499616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Train-test split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vocabulary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897112" y="1773936"/>
            <a:ext cx="338328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81160" y="1417320"/>
            <a:ext cx="1353312" cy="713232"/>
          </a:xfrm>
          <a:prstGeom prst="roundRect">
            <a:avLst>
              <a:gd name="adj" fmla="val 7692"/>
            </a:avLst>
          </a:prstGeom>
          <a:solidFill>
            <a:srgbClr val="E6F4F1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54312" y="1499616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vs NB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06440" y="2788920"/>
            <a:ext cx="157276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2871216"/>
            <a:ext cx="1426464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predicted class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26680" y="2788920"/>
            <a:ext cx="157276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9832" y="2871216"/>
            <a:ext cx="1426464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Coefficient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646920" y="2788920"/>
            <a:ext cx="1572768" cy="713232"/>
          </a:xfrm>
          <a:prstGeom prst="roundRect">
            <a:avLst>
              <a:gd name="adj" fmla="val 7692"/>
            </a:avLst>
          </a:prstGeom>
          <a:solidFill>
            <a:srgbClr val="E6F4F1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0072" y="2871216"/>
            <a:ext cx="1426464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29400" y="2130552"/>
            <a:ext cx="3337560" cy="630936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88352" y="3136392"/>
            <a:ext cx="32004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99448" y="3136392"/>
            <a:ext cx="32004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85800" y="397764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EE8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3977640"/>
            <a:ext cx="73152" cy="15727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" y="4123944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logic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86968" y="4507992"/>
            <a:ext cx="4800600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alone is not enough. The report evaluates Accuracy, Precision, Recall, F1, AUC and error distribution because false negatives and false positives have different costs in triage.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3977640"/>
            <a:ext cx="5166360" cy="1572768"/>
          </a:xfrm>
          <a:prstGeom prst="roundRect">
            <a:avLst>
              <a:gd name="adj" fmla="val 465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160520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E7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Rmd core model code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462272"/>
            <a:ext cx="4572000" cy="7498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logistic_model &lt;- glm(label ~ .,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data = train_matrix, family = binomial)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nb_model &lt;- naiveBayes(x = train_x, y = train_y)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502920" y="6172200"/>
            <a:ext cx="10607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analysis.Rmd model-development and evaluation chunks.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interpretable model performs strongly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balances discrimination and explainability.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FIT5145 Assignment 3 | Source: report PDF + analysis.Rmd + specification/rubric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384280" y="642823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6187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9903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0.9024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1865376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accuracy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set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2880360" y="126187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39903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0.9577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17520" y="1865376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AUC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17520" y="219456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102352" y="126187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EE8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1399032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0.8248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39512" y="1865376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Bayes AUC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39512" y="2194560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360920" y="1170432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1170432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1316736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62088" y="1700784"/>
            <a:ext cx="3794760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does not prove clinical diagnosis. It shows that an interpretable baseline can separate depression-related posts from ADHD comparison posts well enough for a cautious triage demonstration.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77240" y="299923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AUC comparison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359359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LogReg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258568" y="3566160"/>
            <a:ext cx="3840480" cy="32004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58568" y="3566160"/>
            <a:ext cx="3678028" cy="320040"/>
          </a:xfrm>
          <a:prstGeom prst="roundRect">
            <a:avLst>
              <a:gd name="adj" fmla="val 11429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359359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0.9577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731520" y="418795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Bayes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2258568" y="4160520"/>
            <a:ext cx="3840480" cy="320040"/>
          </a:xfrm>
          <a:prstGeom prst="roundRect">
            <a:avLst>
              <a:gd name="adj" fmla="val 11429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8568" y="4160520"/>
            <a:ext cx="3167628" cy="320040"/>
          </a:xfrm>
          <a:prstGeom prst="roundRect">
            <a:avLst>
              <a:gd name="adj" fmla="val 1142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418795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0.8248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713232" y="489204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6F4F1"/>
          </a:solidFill>
          <a:ln w="12700">
            <a:solidFill>
              <a:srgbClr val="C7E6DF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038344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message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5394960"/>
            <a:ext cx="4389120" cy="274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preferred model is not “perfect”; it is strong, transparent and easier to audit.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97880" y="297180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163824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 intuition: curve closer to top-left = better discrimination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446520" y="5074920"/>
            <a:ext cx="42062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3657600"/>
            <a:ext cx="0" cy="14173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3657600"/>
            <a:ext cx="4206240" cy="1417320"/>
          </a:xfrm>
          <a:prstGeom prst="line">
            <a:avLst/>
          </a:prstGeom>
          <a:noFill/>
          <a:ln w="12700">
            <a:solidFill>
              <a:srgbClr val="C8CED8">
                <a:alpha val="9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4153662"/>
            <a:ext cx="336499" cy="921258"/>
          </a:xfrm>
          <a:prstGeom prst="line">
            <a:avLst/>
          </a:prstGeom>
          <a:noFill/>
          <a:ln w="27940">
            <a:solidFill>
              <a:srgbClr val="123B5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3019" y="3856025"/>
            <a:ext cx="420624" cy="297637"/>
          </a:xfrm>
          <a:prstGeom prst="line">
            <a:avLst/>
          </a:prstGeom>
          <a:noFill/>
          <a:ln w="27940">
            <a:solidFill>
              <a:srgbClr val="123B5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03643" y="3728466"/>
            <a:ext cx="715061" cy="127559"/>
          </a:xfrm>
          <a:prstGeom prst="line">
            <a:avLst/>
          </a:prstGeom>
          <a:noFill/>
          <a:ln w="27940">
            <a:solidFill>
              <a:srgbClr val="123B5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18704" y="3678860"/>
            <a:ext cx="1261872" cy="49606"/>
          </a:xfrm>
          <a:prstGeom prst="line">
            <a:avLst/>
          </a:prstGeom>
          <a:noFill/>
          <a:ln w="27940">
            <a:solidFill>
              <a:srgbClr val="123B5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80576" y="3657600"/>
            <a:ext cx="1472184" cy="21260"/>
          </a:xfrm>
          <a:prstGeom prst="line">
            <a:avLst/>
          </a:prstGeom>
          <a:noFill/>
          <a:ln w="27940">
            <a:solidFill>
              <a:srgbClr val="123B5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6520" y="4578858"/>
            <a:ext cx="757123" cy="496062"/>
          </a:xfrm>
          <a:prstGeom prst="line">
            <a:avLst/>
          </a:prstGeom>
          <a:noFill/>
          <a:ln w="27940">
            <a:solidFill>
              <a:srgbClr val="E76F5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03643" y="4054450"/>
            <a:ext cx="588874" cy="524408"/>
          </a:xfrm>
          <a:prstGeom prst="line">
            <a:avLst/>
          </a:prstGeom>
          <a:noFill/>
          <a:ln w="27940">
            <a:solidFill>
              <a:srgbClr val="E76F5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92517" y="3827679"/>
            <a:ext cx="967435" cy="226771"/>
          </a:xfrm>
          <a:prstGeom prst="line">
            <a:avLst/>
          </a:prstGeom>
          <a:noFill/>
          <a:ln w="27940">
            <a:solidFill>
              <a:srgbClr val="E76F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59952" y="3714292"/>
            <a:ext cx="967435" cy="113386"/>
          </a:xfrm>
          <a:prstGeom prst="line">
            <a:avLst/>
          </a:prstGeom>
          <a:noFill/>
          <a:ln w="27940">
            <a:solidFill>
              <a:srgbClr val="E76F5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27387" y="3657600"/>
            <a:ext cx="925373" cy="56693"/>
          </a:xfrm>
          <a:prstGeom prst="line">
            <a:avLst/>
          </a:prstGeom>
          <a:noFill/>
          <a:ln w="27940">
            <a:solidFill>
              <a:srgbClr val="E76F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0528" y="35478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AUC 0.9577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8641080" y="416052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NB AUC 0.8248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502920" y="6172200"/>
            <a:ext cx="10607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results section: LR accuracy = 0.9024; LR AUC = 0.9577; NB AUC = 0.8248.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Interpretability and error costs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high score still requires human review because both false negatives and false positives matter.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FIT5145 Assignment 3 | Source: report PDF + analysis.Rmd + specification/rubric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384280" y="642823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EE8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34440"/>
            <a:ext cx="73152" cy="44348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380744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coefficients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1764792"/>
            <a:ext cx="3154680" cy="3749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 coefficients indicate which stemmed terms push a post toward the depression-related class or the ADHD comparison class.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model explanations, not psychological theory. Some terms may reflect subreddit norms, medication names or community language.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572000" y="12344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 error summary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34840" y="190195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961888" y="1874520"/>
            <a:ext cx="4526280" cy="329184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1888" y="1874520"/>
            <a:ext cx="4526280" cy="329184"/>
          </a:xfrm>
          <a:prstGeom prst="roundRect">
            <a:avLst>
              <a:gd name="adj" fmla="val 1111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79608" y="190195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6,188 (90.24%)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434840" y="256946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negative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61888" y="2542032"/>
            <a:ext cx="4526280" cy="329184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61888" y="2542032"/>
            <a:ext cx="222364" cy="329184"/>
          </a:xfrm>
          <a:prstGeom prst="roundRect">
            <a:avLst>
              <a:gd name="adj" fmla="val 16449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79608" y="2569464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304 (4.43%)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4434840" y="323697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61888" y="3209544"/>
            <a:ext cx="4526280" cy="329184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61888" y="3209544"/>
            <a:ext cx="266983" cy="329184"/>
          </a:xfrm>
          <a:prstGeom prst="roundRect">
            <a:avLst>
              <a:gd name="adj" fmla="val 13700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79608" y="323697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365 (5.32%)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480560" y="4160520"/>
            <a:ext cx="3108960" cy="1078992"/>
          </a:xfrm>
          <a:prstGeom prst="roundRect">
            <a:avLst>
              <a:gd name="adj" fmla="val 6780"/>
            </a:avLst>
          </a:prstGeom>
          <a:solidFill>
            <a:srgbClr val="FDECE8"/>
          </a:solidFill>
          <a:ln w="12700">
            <a:solidFill>
              <a:srgbClr val="F4C9C0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160520"/>
            <a:ext cx="73152" cy="10789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430682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False negative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81728" y="4690872"/>
            <a:ext cx="2743200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depression-related post may be missed; this matters for early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818120" y="4160520"/>
            <a:ext cx="3108960" cy="1078992"/>
          </a:xfrm>
          <a:prstGeom prst="roundRect">
            <a:avLst>
              <a:gd name="adj" fmla="val 6780"/>
            </a:avLst>
          </a:prstGeom>
          <a:solidFill>
            <a:srgbClr val="FFF7E2"/>
          </a:solidFill>
          <a:ln w="12700">
            <a:solidFill>
              <a:srgbClr val="F4E1A0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4160520"/>
            <a:ext cx="73152" cy="10789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9288" y="430682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False positive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19288" y="4690872"/>
            <a:ext cx="2743200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Reviewers may spend time on lower-priority posts or label users unfairly.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4526280" y="3749040"/>
            <a:ext cx="6309360" cy="320040"/>
          </a:xfrm>
          <a:prstGeom prst="roundRect">
            <a:avLst>
              <a:gd name="adj" fmla="val 17143"/>
            </a:avLst>
          </a:prstGeom>
          <a:solidFill>
            <a:srgbClr val="E6F4F1"/>
          </a:solidFill>
          <a:ln w="12700">
            <a:solidFill>
              <a:srgbClr val="C7E6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840480"/>
            <a:ext cx="59436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human review? Even a strong classifier can make errors; outputs become review priorities, not final decisions.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502920" y="6172200"/>
            <a:ext cx="10607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Figure 5/6 discussion and Rmd error_summary chunk.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Governance, value and next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deployable contribution is a transparent triage workflow with safeguards.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FIT5145 Assignment 3 | Source: report PDF + analysis.Rmd + specification/rubric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384280" y="642823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chain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EAF1F8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819656"/>
            <a:ext cx="93268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64792" y="2020824"/>
            <a:ext cx="201168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011680" y="173736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819656"/>
            <a:ext cx="93268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90672" y="2020824"/>
            <a:ext cx="475488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11880" y="173736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1819656"/>
            <a:ext cx="93268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queue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90872" y="2020824"/>
            <a:ext cx="566928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03520" y="173736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1819656"/>
            <a:ext cx="93268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82512" y="2020824"/>
            <a:ext cx="566928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95160" y="1737360"/>
            <a:ext cx="107899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1819656"/>
            <a:ext cx="93268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/ escalation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" y="2834640"/>
            <a:ext cx="331012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DEE8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2834640"/>
            <a:ext cx="73152" cy="224028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2980944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safeguards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6968" y="3364992"/>
            <a:ext cx="2944368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least-privilege access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restrict raw text access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pseudonymous IDs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versioned data cleaning and model artifacts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 logs and retention rules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punitive moderation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297680" y="2834640"/>
            <a:ext cx="331012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DEE8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2834640"/>
            <a:ext cx="73152" cy="2240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2980944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98848" y="3364992"/>
            <a:ext cx="2944368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consent-based or ethically sourced data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clinical/scale-based labels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threshold calibration with reviewers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subgroup fairness checks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card and monitoring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909560" y="2834640"/>
            <a:ext cx="3310128" cy="2240280"/>
          </a:xfrm>
          <a:prstGeom prst="roundRect">
            <a:avLst>
              <a:gd name="adj" fmla="val 3265"/>
            </a:avLst>
          </a:prstGeom>
          <a:solidFill>
            <a:srgbClr val="E6F4F1"/>
          </a:solidFill>
          <a:ln w="12700">
            <a:solidFill>
              <a:srgbClr val="C7E6DF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9560" y="2834640"/>
            <a:ext cx="73152" cy="2240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0728" y="2980944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Take-away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10728" y="3364992"/>
            <a:ext cx="2944368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651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Interpretable social media text analysis is feasible for early-risk triage, but the responsible product is not an automatic diagnosis tool. It is a governed decision-support workflow.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85800" y="553212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715000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message: help support teams see risky posts earlier - while keeping humans, privacy and accountability in the loop.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172200"/>
            <a:ext cx="10607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governance section and conclusion; specification requires a concise 4-minute presentation under 10 slides.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6613</Words>
  <Application>WPS 演示</Application>
  <PresentationFormat>On-screen Show (16:9)</PresentationFormat>
  <Paragraphs>311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宋体</vt:lpstr>
      <vt:lpstr>Wingdings</vt:lpstr>
      <vt:lpstr>Aptos</vt:lpstr>
      <vt:lpstr>Segoe UI</vt:lpstr>
      <vt:lpstr>Aptos</vt:lpstr>
      <vt:lpstr>Aptos</vt:lpstr>
      <vt:lpstr>Aptos Display</vt:lpstr>
      <vt:lpstr>Aptos Display</vt:lpstr>
      <vt:lpstr>Aptos Display</vt:lpstr>
      <vt:lpstr>Segoe UI Variable Display</vt:lpstr>
      <vt:lpstr>Consolas</vt:lpstr>
      <vt:lpstr>Consolas</vt:lpstr>
      <vt:lpstr>Consolas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FIT5145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Depression Risk from Social Media Text</dc:title>
  <dc:creator>OpenAI - generated for SUN ZHEN</dc:creator>
  <dc:subject>Assignment 3 presentation slides</dc:subject>
  <cp:lastModifiedBy>想要好脑子</cp:lastModifiedBy>
  <cp:revision>2</cp:revision>
  <dcterms:created xsi:type="dcterms:W3CDTF">2026-05-11T10:37:00Z</dcterms:created>
  <dcterms:modified xsi:type="dcterms:W3CDTF">2026-05-11T10:42:59Z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E0AD19D7AF6B48D490116D6B3CA16115_12</vt:lpwstr>
  </property>
  <property fmtid="{D5CDD505-2E9C-101B-9397-08002B2CF9AE}" pid="3" name="KSOProductBuildVer">
    <vt:lpwstr>2052-12.1.0.25865</vt:lpwstr>
  </property>
</Properties>
</file>